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anrope" panose="020B0604020202020204" charset="0"/>
      <p:regular r:id="rId13"/>
    </p:embeddedFont>
    <p:embeddedFont>
      <p:font typeface="Prata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76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13647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Gym Progress Prediction Using Machine Learning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3417987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data-driven fitness forecasting system that predicts weight, body fat percentage, and goal achievement probability — powered by Gradient Boosting models trained on 30,000 real gym records.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4404221"/>
            <a:ext cx="1754838" cy="310952"/>
          </a:xfrm>
          <a:prstGeom prst="roundRect">
            <a:avLst>
              <a:gd name="adj" fmla="val 6383"/>
            </a:avLst>
          </a:prstGeom>
          <a:solidFill>
            <a:srgbClr val="391F13"/>
          </a:solidFill>
          <a:ln/>
        </p:spPr>
      </p:sp>
      <p:sp>
        <p:nvSpPr>
          <p:cNvPr id="7" name="Text 4"/>
          <p:cNvSpPr/>
          <p:nvPr/>
        </p:nvSpPr>
        <p:spPr>
          <a:xfrm>
            <a:off x="5332577" y="4453830"/>
            <a:ext cx="2165990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BY PRANIT PATIL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070846" y="4397871"/>
            <a:ext cx="3478522" cy="323652"/>
          </a:xfrm>
          <a:prstGeom prst="roundRect">
            <a:avLst>
              <a:gd name="adj" fmla="val 6132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76412" y="4453830"/>
            <a:ext cx="3876975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· FLASK · SCIKIT-LEARN · GRADIENT BOOSTING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042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85540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Overview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1750318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system leverages supervised machine learning to give gym members and trainers a clear, quantified picture of future fitness outcomes. By training on a large dataset of real gym records, the model generates three core predictions that directly inform training and nutrition decisions.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2994819"/>
            <a:ext cx="3065783" cy="1488480"/>
          </a:xfrm>
          <a:prstGeom prst="roundRect">
            <a:avLst>
              <a:gd name="adj" fmla="val 1667"/>
            </a:avLst>
          </a:prstGeom>
          <a:solidFill>
            <a:srgbClr val="404245"/>
          </a:solidFill>
          <a:ln/>
        </p:spPr>
      </p:sp>
      <p:sp>
        <p:nvSpPr>
          <p:cNvPr id="7" name="Text 4"/>
          <p:cNvSpPr/>
          <p:nvPr/>
        </p:nvSpPr>
        <p:spPr>
          <a:xfrm>
            <a:off x="826769" y="3160117"/>
            <a:ext cx="241373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⚖️</a:t>
            </a: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Weight After 90 Days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769" y="3524151"/>
            <a:ext cx="273519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Regresses current metrics to forecast body weight at a 90-day horizon.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92552" y="2994819"/>
            <a:ext cx="3065783" cy="1488480"/>
          </a:xfrm>
          <a:prstGeom prst="roundRect">
            <a:avLst>
              <a:gd name="adj" fmla="val 1667"/>
            </a:avLst>
          </a:prstGeom>
          <a:solidFill>
            <a:srgbClr val="404245"/>
          </a:solidFill>
          <a:ln/>
        </p:spPr>
      </p:sp>
      <p:sp>
        <p:nvSpPr>
          <p:cNvPr id="10" name="Text 7"/>
          <p:cNvSpPr/>
          <p:nvPr/>
        </p:nvSpPr>
        <p:spPr>
          <a:xfrm>
            <a:off x="4057846" y="3160117"/>
            <a:ext cx="236105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📊</a:t>
            </a: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Body Fat Percentage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57846" y="3524151"/>
            <a:ext cx="27351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Estimates future body composition using lifestyle and workout inputs.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648597"/>
            <a:ext cx="6296860" cy="1223863"/>
          </a:xfrm>
          <a:prstGeom prst="roundRect">
            <a:avLst>
              <a:gd name="adj" fmla="val 2027"/>
            </a:avLst>
          </a:prstGeom>
          <a:solidFill>
            <a:srgbClr val="404245"/>
          </a:solidFill>
          <a:ln/>
        </p:spPr>
      </p:sp>
      <p:sp>
        <p:nvSpPr>
          <p:cNvPr id="13" name="Text 10"/>
          <p:cNvSpPr/>
          <p:nvPr/>
        </p:nvSpPr>
        <p:spPr>
          <a:xfrm>
            <a:off x="826769" y="4813895"/>
            <a:ext cx="3265902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🎯</a:t>
            </a: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Goal Achievement Probability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6769" y="5177929"/>
            <a:ext cx="59662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Classifies the likelihood of reaching a stated fitness goal based on behavioral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44811"/>
            <a:ext cx="1220955" cy="323652"/>
          </a:xfrm>
          <a:prstGeom prst="roundRect">
            <a:avLst>
              <a:gd name="adj" fmla="val 6132"/>
            </a:avLst>
          </a:prstGeom>
          <a:noFill/>
          <a:ln w="6350">
            <a:solidFill>
              <a:srgbClr val="8448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041" y="1400770"/>
            <a:ext cx="1619408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34542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416572"/>
            <a:ext cx="5796214" cy="2001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gym members set fitness goals without a realistic sense of what's achievable. Without data-driven guidance, progress estimates are guesswork — leading to frustration, plateauing, and dropout.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system addresses that gap by translating individual fitness data into </a:t>
            </a:r>
            <a:r>
              <a:rPr lang="en-US" sz="13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personalized, probabilistic forecasts</a:t>
            </a: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Members gain visibility into where they'll be in 90 days, what their body composition will look like, and how likely they are to hit their target — all before committing to a program.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4603750"/>
            <a:ext cx="5796214" cy="909439"/>
          </a:xfrm>
          <a:prstGeom prst="roundRect">
            <a:avLst>
              <a:gd name="adj" fmla="val 2728"/>
            </a:avLst>
          </a:prstGeom>
          <a:solidFill>
            <a:srgbClr val="02234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856163"/>
            <a:ext cx="206667" cy="1652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8731" y="4793853"/>
            <a:ext cx="50936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goal is to replace intuition with evidence, helping members and trainers make smarter, faster decisions.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48393" y="1158776"/>
            <a:ext cx="4907137" cy="4540448"/>
          </a:xfrm>
          <a:prstGeom prst="roundRect">
            <a:avLst>
              <a:gd name="adj" fmla="val 546"/>
            </a:avLst>
          </a:prstGeom>
          <a:solidFill>
            <a:srgbClr val="84482D"/>
          </a:solidFill>
          <a:ln/>
        </p:spPr>
      </p:sp>
      <p:sp>
        <p:nvSpPr>
          <p:cNvPr id="10" name="Text 7"/>
          <p:cNvSpPr/>
          <p:nvPr/>
        </p:nvSpPr>
        <p:spPr>
          <a:xfrm>
            <a:off x="6913687" y="1324074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Members Ask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13687" y="1747837"/>
            <a:ext cx="4576549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much weight will I lose in 90 days?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will my body fat percentage be?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 I on track to reach my goal?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should I change in my routine?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13687" y="3145135"/>
            <a:ext cx="32956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This System Answers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13687" y="3568898"/>
            <a:ext cx="4576549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Precise weight projection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Body fat estimate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Goal probability score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Personalized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7970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&amp; Features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0539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model was trained on </a:t>
            </a:r>
            <a:r>
              <a:rPr lang="en-US" sz="13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30,000 anonymized gym member records</a:t>
            </a: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capturing a rich set of demographic, behavioral, and nutritional variables. This breadth of features enables the model to learn nuanced relationships between lifestyle inputs and fitness outcomes.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20665"/>
            <a:ext cx="330688" cy="330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15803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3515717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Age, gender, and baseline BMI form the foundational profile for each member.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620665"/>
            <a:ext cx="330688" cy="3306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132" y="315803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Workout Behavior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99132" y="3515717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Workout days per week, cardio hours, and strength training sessions capture training intensity.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75646"/>
            <a:ext cx="330688" cy="3306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91301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Nutrition Intake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61475" y="5270698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Daily calories, protein grams, and water intake quantify dietary adherence.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4375646"/>
            <a:ext cx="330688" cy="3306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9132" y="4913015"/>
            <a:ext cx="20786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Recovery &amp; Wellness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99132" y="5270698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Sleep hours and self-reported stress levels add a recovery dimension to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2280"/>
            <a:ext cx="4997424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Visualizations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8970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Exploratory data analysis revealed meaningful distributions across key features. The visualizations below highlight patterns in member demographics, workout frequency, and nutritional habits — all of which serve as critical inputs to the prediction models.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465" y="2612231"/>
            <a:ext cx="3721205" cy="248086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926" y="2612231"/>
            <a:ext cx="3721205" cy="24808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538638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distributions informed feature engineering decisions and helped identify which variables carry the strongest predictive signal for weight change and goal attainment.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6309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Scope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33736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Beyond a single prediction endpoint, this system is designed to serve multiple stakeholders across the fitness ecosystem — from individual members to gym operators and app developers.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2349004"/>
            <a:ext cx="3531702" cy="17786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2967" y="2533352"/>
            <a:ext cx="308681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Personalized Fitness Forecasting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02967" y="3149501"/>
            <a:ext cx="308681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Individual members receive tailored 90-day projections based on their unique profile and habits.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372" y="2349004"/>
            <a:ext cx="3531801" cy="17786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80914" y="2533352"/>
            <a:ext cx="24194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Trainer Assistance Tools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80914" y="2891036"/>
            <a:ext cx="30869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 trainers can use model outputs to design more effective, evidence-based programs.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8419" y="2349004"/>
            <a:ext cx="3531702" cy="17786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58961" y="2533352"/>
            <a:ext cx="25947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Gym Analytics Dashboard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58961" y="2891036"/>
            <a:ext cx="308681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Gym owners gain aggregate insights into member progress trends and program effectiveness.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4292997"/>
            <a:ext cx="3531702" cy="17786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2967" y="4477345"/>
            <a:ext cx="23236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Fitness App Integration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902967" y="4835029"/>
            <a:ext cx="308681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prediction API can be embedded into existing fitness platforms via REST endpoints.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372" y="4292997"/>
            <a:ext cx="3531801" cy="177869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80914" y="4477345"/>
            <a:ext cx="308691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Health Recommendation Engine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580914" y="5093494"/>
            <a:ext cx="30869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generates actionable nutrition and training suggestions alongside each prediction.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9052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Technology Stack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9648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is built on a lean, production-ready stack that balances simplicity with ML capability. Flask serves predictions via a lightweight REST API, while Scikit-Learn's Gradient Boosting models deliver high accuracy without the overhead of deep learning frameworks.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711748"/>
            <a:ext cx="5470785" cy="2997200"/>
          </a:xfrm>
          <a:prstGeom prst="roundRect">
            <a:avLst>
              <a:gd name="adj" fmla="val 828"/>
            </a:avLst>
          </a:prstGeom>
          <a:solidFill>
            <a:srgbClr val="84482D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877046"/>
            <a:ext cx="268231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Frontend &amp; Backend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300809"/>
            <a:ext cx="5140196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HTML / CSS</a:t>
            </a: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Responsive GymAI web interface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Flask</a:t>
            </a: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Python web framework for API and routing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7710" y="4053185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ML &amp; Data Libraries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4476948"/>
            <a:ext cx="5140196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Gradient Boosting</a:t>
            </a: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Regressor &amp; Classifier (Scikit-Learn)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 &amp; NumPy</a:t>
            </a: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Data manipulation and numerical computing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Joblib</a:t>
            </a: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Model serialization and persistence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877046"/>
            <a:ext cx="30441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Gradient Boosting?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3300809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Gradient Boosting excels on tabular data with mixed feature types. It handles non-linear relationships, is robust to outliers, and provides strong performance without extensive hyperparameter tuning — making it ideal for this use case.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3904" y="4545310"/>
            <a:ext cx="5232666" cy="909439"/>
          </a:xfrm>
          <a:prstGeom prst="roundRect">
            <a:avLst>
              <a:gd name="adj" fmla="val 2728"/>
            </a:avLst>
          </a:prstGeom>
          <a:solidFill>
            <a:srgbClr val="391F13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4797723"/>
            <a:ext cx="206667" cy="1652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41160" y="4735413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Models are serialized with Joblib and loaded at runtime, enabling fast, stateless predictions in the Flask app.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509" y="435471"/>
            <a:ext cx="316638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the System Works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473" y="827385"/>
            <a:ext cx="6538749" cy="3463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31780" y="3302689"/>
            <a:ext cx="1616705" cy="20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Input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616814" y="3562267"/>
            <a:ext cx="1731670" cy="251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1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 fitness details and goals.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099469" y="1177792"/>
            <a:ext cx="1616705" cy="20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984503" y="1437370"/>
            <a:ext cx="1731671" cy="37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1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 BMI, active hours, protein/kg, cardio ratio, deficit.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64595" y="1303764"/>
            <a:ext cx="1616704" cy="20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ML Models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64595" y="1563341"/>
            <a:ext cx="1731670" cy="251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 gradient boosting regressor and classifier.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75350" y="3302802"/>
            <a:ext cx="1616704" cy="20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Predictions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75350" y="3562379"/>
            <a:ext cx="1731670" cy="251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Produce weight, body fat, and goal probability.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8509" y="4348857"/>
            <a:ext cx="11623186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end-to-end pipeline transforms raw user inputs into three actionable predictions in seconds. Engineered features — such as BMI, Weekly Active Hours, Protein per KG, Cardio Ratio, and Calorie Deficit — are computed before being fed into the trained models.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68509" y="4541341"/>
            <a:ext cx="2182956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GymAI Application Features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8509" y="4763095"/>
            <a:ext cx="5501542" cy="803870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15" name="Shape 12"/>
          <p:cNvSpPr/>
          <p:nvPr/>
        </p:nvSpPr>
        <p:spPr>
          <a:xfrm>
            <a:off x="660880" y="4855468"/>
            <a:ext cx="277111" cy="277118"/>
          </a:xfrm>
          <a:prstGeom prst="roundRect">
            <a:avLst>
              <a:gd name="adj" fmla="val 27494569"/>
            </a:avLst>
          </a:prstGeom>
          <a:solidFill>
            <a:srgbClr val="84482D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078" y="4931668"/>
            <a:ext cx="124715" cy="12471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0880" y="5184180"/>
            <a:ext cx="1232464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Prediction Dashboard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60880" y="5359499"/>
            <a:ext cx="5316801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Central hub displaying all three model outputs at a glance.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6121644" y="4763095"/>
            <a:ext cx="5501542" cy="803870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20" name="Shape 16"/>
          <p:cNvSpPr/>
          <p:nvPr/>
        </p:nvSpPr>
        <p:spPr>
          <a:xfrm>
            <a:off x="6214014" y="4855468"/>
            <a:ext cx="277111" cy="277118"/>
          </a:xfrm>
          <a:prstGeom prst="roundRect">
            <a:avLst>
              <a:gd name="adj" fmla="val 27494569"/>
            </a:avLst>
          </a:prstGeom>
          <a:solidFill>
            <a:srgbClr val="84482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0212" y="4931668"/>
            <a:ext cx="124715" cy="12471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4014" y="5184180"/>
            <a:ext cx="1181467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Goal Probability Ring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214014" y="5359499"/>
            <a:ext cx="5316801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 gauge showing likelihood of achieving the stated fitness goal.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568509" y="5618559"/>
            <a:ext cx="5501542" cy="803870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25" name="Shape 20"/>
          <p:cNvSpPr/>
          <p:nvPr/>
        </p:nvSpPr>
        <p:spPr>
          <a:xfrm>
            <a:off x="660880" y="5710932"/>
            <a:ext cx="277111" cy="277118"/>
          </a:xfrm>
          <a:prstGeom prst="roundRect">
            <a:avLst>
              <a:gd name="adj" fmla="val 27494569"/>
            </a:avLst>
          </a:prstGeom>
          <a:solidFill>
            <a:srgbClr val="84482D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078" y="5787132"/>
            <a:ext cx="124715" cy="12471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0880" y="6039644"/>
            <a:ext cx="1794326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Personalized Recommendations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60880" y="6214963"/>
            <a:ext cx="5316801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Contextual nutrition and training tips generated per user profile.</a:t>
            </a:r>
            <a:endParaRPr lang="en-US" sz="700" dirty="0"/>
          </a:p>
        </p:txBody>
      </p:sp>
      <p:sp>
        <p:nvSpPr>
          <p:cNvPr id="29" name="Shape 23"/>
          <p:cNvSpPr/>
          <p:nvPr/>
        </p:nvSpPr>
        <p:spPr>
          <a:xfrm>
            <a:off x="6121644" y="5618559"/>
            <a:ext cx="5501542" cy="803870"/>
          </a:xfrm>
          <a:prstGeom prst="roundRect">
            <a:avLst>
              <a:gd name="adj" fmla="val 1724"/>
            </a:avLst>
          </a:prstGeom>
          <a:solidFill>
            <a:srgbClr val="404245"/>
          </a:solidFill>
          <a:ln/>
        </p:spPr>
      </p:sp>
      <p:sp>
        <p:nvSpPr>
          <p:cNvPr id="30" name="Shape 24"/>
          <p:cNvSpPr/>
          <p:nvPr/>
        </p:nvSpPr>
        <p:spPr>
          <a:xfrm>
            <a:off x="6214014" y="5710932"/>
            <a:ext cx="277111" cy="277118"/>
          </a:xfrm>
          <a:prstGeom prst="roundRect">
            <a:avLst>
              <a:gd name="adj" fmla="val 27494569"/>
            </a:avLst>
          </a:prstGeom>
          <a:solidFill>
            <a:srgbClr val="84482D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0212" y="5787132"/>
            <a:ext cx="124715" cy="12471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214014" y="6039644"/>
            <a:ext cx="154965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Body Fat Reference Insights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214014" y="6214963"/>
            <a:ext cx="5316801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Benchmarks and reference ranges to contextualize body fat predictions.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464153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Machine Learning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28502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rigorous, reproducible pipeline ensures data quality and model reliability from ingestion through deployment. Each stage is designed to maximize signal extraction and minimize noise.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06711"/>
            <a:ext cx="3622882" cy="4960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5495" y="1895773"/>
            <a:ext cx="15504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5495" y="2145308"/>
            <a:ext cx="33748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30K gym records aggregated and ingested.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306711"/>
            <a:ext cx="3622882" cy="4960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08377" y="1895773"/>
            <a:ext cx="15504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Cleaning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08377" y="2145308"/>
            <a:ext cx="33748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Outliers removed, missing values imputed.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306711"/>
            <a:ext cx="3622882" cy="4960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31259" y="1895773"/>
            <a:ext cx="15504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31259" y="2145308"/>
            <a:ext cx="337484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BMI, active hours, protein/kg, cardio ratio, calorie deficit derived.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2616597"/>
            <a:ext cx="3622882" cy="4960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5495" y="3205659"/>
            <a:ext cx="15504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Scaling &amp; Encoding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85495" y="3455194"/>
            <a:ext cx="33748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Normalization and one-hot encoding applied.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2616597"/>
            <a:ext cx="3622882" cy="4960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08377" y="3205659"/>
            <a:ext cx="15504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408377" y="3455194"/>
            <a:ext cx="33748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Gradient Boosting Regressor &amp; Classifier fit.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7239" y="2616597"/>
            <a:ext cx="3622882" cy="49609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31259" y="3205659"/>
            <a:ext cx="15504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8031259" y="3455194"/>
            <a:ext cx="33748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R² and AUC metrics validated on hold-out data.</a:t>
            </a:r>
            <a:endParaRPr lang="en-US" sz="9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475" y="3752850"/>
            <a:ext cx="3622882" cy="49609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85495" y="4341912"/>
            <a:ext cx="155045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785495" y="4591447"/>
            <a:ext cx="337484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Models serialized and served via Flask API.</a:t>
            </a:r>
            <a:endParaRPr lang="en-US" sz="950" dirty="0"/>
          </a:p>
        </p:txBody>
      </p:sp>
      <p:sp>
        <p:nvSpPr>
          <p:cNvPr id="25" name="Text 16"/>
          <p:cNvSpPr/>
          <p:nvPr/>
        </p:nvSpPr>
        <p:spPr>
          <a:xfrm>
            <a:off x="661475" y="5086648"/>
            <a:ext cx="248209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Engineered Features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661475" y="5373390"/>
            <a:ext cx="5283068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BMI</a:t>
            </a: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Body Mass Index from height and weight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Weekly Active Hours</a:t>
            </a: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Combined cardio and strength volume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Protein per KG</a:t>
            </a: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Protein intake normalized by body weight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Cardio Ratio</a:t>
            </a: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Proportion of cardio vs. total workout time</a:t>
            </a:r>
            <a:endParaRPr lang="en-US" sz="95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Calorie Deficit</a:t>
            </a: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Difference between intake and estimated expenditure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6253502" y="5086648"/>
            <a:ext cx="268370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These Features Matter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6253502" y="5373390"/>
            <a:ext cx="5283068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 inputs alone don't capture the physiological relationships driving fitness outcomes. These engineered features encode domain knowledge — such as the importance of protein density and energy balance — directly into the model, significantly boosting predictive accuracy.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1804"/>
            <a:ext cx="738169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Model Performance &amp; Conclusion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6923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Gradient Boosting models achieved exceptional accuracy on held-out test data, validating the feature engineering approach and confirming the system's readiness for real-world deployment.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67148"/>
            <a:ext cx="3485071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0.989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1370276" y="301962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Weight Prediction R²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377307"/>
            <a:ext cx="348507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Near-perfect regression fit — the model explains 98.9% of variance in 90-day weight outcomes.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53213" y="2267148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0.95</a:t>
            </a:r>
            <a:endParaRPr lang="en-US" sz="4250" dirty="0"/>
          </a:p>
        </p:txBody>
      </p:sp>
      <p:sp>
        <p:nvSpPr>
          <p:cNvPr id="8" name="Text 6"/>
          <p:cNvSpPr/>
          <p:nvPr/>
        </p:nvSpPr>
        <p:spPr>
          <a:xfrm>
            <a:off x="5062113" y="301962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Goal AUC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53213" y="3377307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classification performance — the model reliably distinguishes goal achievers from non-achievers.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5050" y="2267148"/>
            <a:ext cx="3485170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30K</a:t>
            </a:r>
            <a:endParaRPr lang="en-US" sz="4250" dirty="0"/>
          </a:p>
        </p:txBody>
      </p:sp>
      <p:sp>
        <p:nvSpPr>
          <p:cNvPr id="11" name="Text 9"/>
          <p:cNvSpPr/>
          <p:nvPr/>
        </p:nvSpPr>
        <p:spPr>
          <a:xfrm>
            <a:off x="8753951" y="301962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Training Records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5050" y="3377307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large, diverse dataset ensures robust generalization across member profiles and gym contexts.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2415" y="4357191"/>
            <a:ext cx="5470785" cy="1878905"/>
          </a:xfrm>
          <a:prstGeom prst="roundRect">
            <a:avLst>
              <a:gd name="adj" fmla="val 1320"/>
            </a:avLst>
          </a:prstGeom>
          <a:solidFill>
            <a:srgbClr val="84482D"/>
          </a:solidFill>
          <a:ln/>
        </p:spPr>
      </p:sp>
      <p:sp>
        <p:nvSpPr>
          <p:cNvPr id="14" name="Text 12"/>
          <p:cNvSpPr/>
          <p:nvPr/>
        </p:nvSpPr>
        <p:spPr>
          <a:xfrm>
            <a:off x="707710" y="4522490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7710" y="4946253"/>
            <a:ext cx="514019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Gym Progress Prediction system demonstrates that machine learning can deliver </a:t>
            </a: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accurate, actionable fitness forecasts</a:t>
            </a: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at scale — empowering members, trainers, and gym operators to make data-informed decisions.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3904" y="4522490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3904" y="4946253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dataset with longitudinal member tracking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personalization through user feedback loops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Integrate wearable device data streams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 mobile app companion for GymAI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1251</Words>
  <Application>Microsoft Office PowerPoint</Application>
  <PresentationFormat>Widescreen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Prata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Pranit Patil</cp:lastModifiedBy>
  <cp:revision>3</cp:revision>
  <dcterms:created xsi:type="dcterms:W3CDTF">2026-06-06T03:19:08Z</dcterms:created>
  <dcterms:modified xsi:type="dcterms:W3CDTF">2026-06-06T03:54:09Z</dcterms:modified>
</cp:coreProperties>
</file>